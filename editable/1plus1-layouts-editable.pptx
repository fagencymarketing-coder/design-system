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Шрифт Gilroy. Текст редактируется; фон (фото, паттерн, значки) лежит одной картинкой, логотип и вырезки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Шрифт Gilroy. Текст редактируется; фон (фото, паттерн, значки) лежит одной картинкой, логотип и вырезки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Шрифт Gilroy. Текст редактируется; фон (фото, паттерн, значки) лежит одной картинкой, логотип и вырезки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Шрифт Gilroy. Текст редактируется; фон (фото, паттерн, значки) лежит одной картинкой, логотип и вырезки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Шрифт Gilroy. Текст редактируется; фон (фото, паттерн, значки) лежит одной картинкой, логотип и вырезки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Шрифт Gilroy. Текст редактируется; фон (фото, паттерн, значки) лежит одной картинкой, логотип и вырезки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Шрифт Gilroy. Текст редактируется; фон (фото, паттерн, значки) лежит одной картинкой, логотип и вырезки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Шрифт Gilroy. Текст редактируется; фон (фото, паттерн, значки) лежит одной картинкой, логотип и вырезки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Шрифт Gilroy. Текст редактируется; фон (фото, паттерн, значки) лежит одной картинкой, логотип и вырезки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Шрифт Gilroy. Текст редактируется; фон (фото, паттерн, значки) лежит одной картинкой, логотип и вырезки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Шрифт Gilroy. Текст редактируется; фон (фото, паттерн, значки) лежит одной картинкой, логотип и вырезки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Шрифт Gilroy. Текст редактируется; фон (фото, паттерн, значки) лежит одной картинкой, логотип и вырезки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Шрифт Gilroy. Текст редактируется; фон (фото, паттерн, значки) лежит одной картинкой, логотип и вырезки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Шрифт Gilroy. Текст редактируется; фон (фото, паттерн, значки) лежит одной картинкой, логотип и вырезки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Шрифт Gilroy. Текст редактируется; фон (фото, паттерн, значки) лежит одной картинкой, логотип и вырезки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Шрифт Gilroy. Текст редактируется; фон (фото, паттерн, значки) лежит одной картинкой, логотип и вырезки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Шрифт Gilroy. Текст редактируется; фон (фото, паттерн, значки) лежит одной картинкой, логотип и вырезки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V01-photo-question">
    <p:spTree>
      <p:nvGrpSpPr>
        <p:cNvPr id="1" name=""/>
        <p:cNvGrpSpPr/>
        <p:nvPr/>
      </p:nvGrpSpPr>
      <p:grpSpPr/>
      <p:pic>
        <p:nvPicPr>
          <p:cNvPr id="2" name="Фон (картинка, без текста)" descr="V01-photo-question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Логотип" descr="logo-ful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4" name="Малиновая черта"/>
          <p:cNvSpPr/>
          <p:nvPr/>
        </p:nvSpPr>
        <p:spPr>
          <a:xfrm>
            <a:off x="914400" y="2362200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Текст 1"/>
          <p:cNvSpPr txBox="1"/>
          <p:nvPr/>
        </p:nvSpPr>
        <p:spPr>
          <a:xfrm>
            <a:off x="914400" y="2685288"/>
            <a:ext cx="5178176" cy="2060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112"/>
              </a:lnSpc>
            </a:pPr>
            <a:r>
              <a:rPr b="0" sz="7800" spc="-156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Налоговые</a:t>
            </a:r>
            <a:br/>
            <a:r>
              <a:rPr b="0" sz="7800" spc="-156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проверки</a:t>
            </a:r>
          </a:p>
        </p:txBody>
      </p:sp>
      <p:sp>
        <p:nvSpPr>
          <p:cNvPr id="6" name="Текст 2"/>
          <p:cNvSpPr txBox="1"/>
          <p:nvPr/>
        </p:nvSpPr>
        <p:spPr>
          <a:xfrm>
            <a:off x="914400" y="5025318"/>
            <a:ext cx="4611588" cy="10561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58"/>
              </a:lnSpc>
            </a:pPr>
            <a:r>
              <a:rPr b="0" sz="3300" spc="-16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какая инспекция</a:t>
            </a:r>
            <a:br/>
            <a:r>
              <a:rPr b="0" sz="3300" spc="-16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может вас проверить?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V13-photo-hero-question">
    <p:spTree>
      <p:nvGrpSpPr>
        <p:cNvPr id="1" name=""/>
        <p:cNvGrpSpPr/>
        <p:nvPr/>
      </p:nvGrpSpPr>
      <p:grpSpPr/>
      <p:pic>
        <p:nvPicPr>
          <p:cNvPr id="2" name="Фон (картинка, без текста)" descr="V13-photo-hero-question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Логотип" descr="logo-ful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4" name="Малиновая черта"/>
          <p:cNvSpPr/>
          <p:nvPr/>
        </p:nvSpPr>
        <p:spPr>
          <a:xfrm>
            <a:off x="914400" y="2362200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Текст 1"/>
          <p:cNvSpPr txBox="1"/>
          <p:nvPr/>
        </p:nvSpPr>
        <p:spPr>
          <a:xfrm>
            <a:off x="914400" y="2678430"/>
            <a:ext cx="4789586" cy="11734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620"/>
              </a:lnSpc>
            </a:pPr>
            <a:r>
              <a:rPr b="0" sz="4200" spc="-84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Бухгалтер заболел</a:t>
            </a:r>
            <a:br/>
            <a:r>
              <a:rPr b="0" sz="4200" spc="-84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в отчетный период</a:t>
            </a:r>
          </a:p>
        </p:txBody>
      </p:sp>
      <p:sp>
        <p:nvSpPr>
          <p:cNvPr id="6" name="Текст 2"/>
          <p:cNvSpPr txBox="1"/>
          <p:nvPr/>
        </p:nvSpPr>
        <p:spPr>
          <a:xfrm>
            <a:off x="914400" y="4117595"/>
            <a:ext cx="7266235" cy="124872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832"/>
              </a:lnSpc>
            </a:pPr>
            <a:r>
              <a:rPr b="0" sz="10350" spc="-362">
                <a:solidFill>
                  <a:srgbClr val="EA4C74"/>
                </a:solidFill>
                <a:latin typeface="Gilroy ExtraBold"/>
                <a:ea typeface="Gilroy ExtraBold"/>
                <a:cs typeface="Gilroy ExtraBold"/>
              </a:rPr>
              <a:t>Что делать?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V02-news-graphite">
    <p:spTree>
      <p:nvGrpSpPr>
        <p:cNvPr id="1" name=""/>
        <p:cNvGrpSpPr/>
        <p:nvPr/>
      </p:nvGrpSpPr>
      <p:grpSpPr/>
      <p:pic>
        <p:nvPicPr>
          <p:cNvPr id="2" name="Фон (картинка, без текста)" descr="V02-news-grap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Логотип" descr="logo-ful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4" name="Малиновая черта"/>
          <p:cNvSpPr/>
          <p:nvPr/>
        </p:nvSpPr>
        <p:spPr>
          <a:xfrm>
            <a:off x="914400" y="3155305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Текст 1"/>
          <p:cNvSpPr txBox="1"/>
          <p:nvPr/>
        </p:nvSpPr>
        <p:spPr>
          <a:xfrm>
            <a:off x="914400" y="3477250"/>
            <a:ext cx="2336155" cy="2514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979"/>
              </a:lnSpc>
            </a:pPr>
            <a:r>
              <a:rPr b="0" sz="1650" spc="231" cap="all">
                <a:solidFill>
                  <a:srgbClr val="D2BE8C"/>
                </a:solidFill>
                <a:latin typeface="Gilroy Medium"/>
                <a:ea typeface="Gilroy Medium"/>
                <a:cs typeface="Gilroy Medium"/>
              </a:rPr>
              <a:t>Новое в законе</a:t>
            </a:r>
          </a:p>
        </p:txBody>
      </p:sp>
      <p:sp>
        <p:nvSpPr>
          <p:cNvPr id="6" name="Текст 2"/>
          <p:cNvSpPr txBox="1"/>
          <p:nvPr/>
        </p:nvSpPr>
        <p:spPr>
          <a:xfrm>
            <a:off x="914400" y="4002268"/>
            <a:ext cx="5813226" cy="30906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112"/>
              </a:lnSpc>
            </a:pPr>
            <a:r>
              <a:rPr b="0" sz="7800" spc="-156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Закон о</a:t>
            </a:r>
            <a:br/>
            <a:r>
              <a:rPr b="0" sz="7800" spc="-156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цифровых</a:t>
            </a:r>
            <a:br/>
            <a:r>
              <a:rPr b="0" sz="7800" spc="-156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платформах</a:t>
            </a:r>
          </a:p>
        </p:txBody>
      </p:sp>
      <p:sp>
        <p:nvSpPr>
          <p:cNvPr id="7" name="Текст 3"/>
          <p:cNvSpPr txBox="1"/>
          <p:nvPr/>
        </p:nvSpPr>
        <p:spPr>
          <a:xfrm>
            <a:off x="914400" y="7537459"/>
            <a:ext cx="5292476" cy="6172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859"/>
              </a:lnSpc>
            </a:pPr>
            <a:r>
              <a:rPr b="0" sz="4050" spc="-20">
                <a:solidFill>
                  <a:srgbClr val="FFFFFF">
                    <a:alpha val="70000"/>
                  </a:srgbClr>
                </a:solidFill>
                <a:latin typeface="Gilroy Medium"/>
                <a:ea typeface="Gilroy Medium"/>
                <a:cs typeface="Gilroy Medium"/>
              </a:rPr>
              <a:t>с </a:t>
            </a:r>
            <a:r>
              <a:rPr b="0" sz="4050" spc="-20">
                <a:solidFill>
                  <a:srgbClr val="EA4C74"/>
                </a:solidFill>
                <a:latin typeface="Gilroy SemiBold"/>
                <a:ea typeface="Gilroy SemiBold"/>
                <a:cs typeface="Gilroy SemiBold"/>
              </a:rPr>
              <a:t>1 октября 2026 года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V14-graphite-hero-question">
    <p:spTree>
      <p:nvGrpSpPr>
        <p:cNvPr id="1" name=""/>
        <p:cNvGrpSpPr/>
        <p:nvPr/>
      </p:nvGrpSpPr>
      <p:grpSpPr/>
      <p:pic>
        <p:nvPicPr>
          <p:cNvPr id="2" name="Фон (картинка, без текста)" descr="V14-graphite-hero-question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Логотип" descr="logo-ful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4" name="Малиновая черта"/>
          <p:cNvSpPr/>
          <p:nvPr/>
        </p:nvSpPr>
        <p:spPr>
          <a:xfrm>
            <a:off x="914400" y="4142035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Текст 1"/>
          <p:cNvSpPr txBox="1"/>
          <p:nvPr/>
        </p:nvSpPr>
        <p:spPr>
          <a:xfrm>
            <a:off x="914400" y="4458265"/>
            <a:ext cx="4789586" cy="11734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620"/>
              </a:lnSpc>
            </a:pPr>
            <a:r>
              <a:rPr b="0" sz="4200" spc="-84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Бухгалтер заболел</a:t>
            </a:r>
            <a:br/>
            <a:r>
              <a:rPr b="0" sz="4200" spc="-84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в отчетный период</a:t>
            </a:r>
          </a:p>
        </p:txBody>
      </p:sp>
      <p:sp>
        <p:nvSpPr>
          <p:cNvPr id="6" name="Текст 2"/>
          <p:cNvSpPr txBox="1"/>
          <p:nvPr/>
        </p:nvSpPr>
        <p:spPr>
          <a:xfrm>
            <a:off x="914400" y="5935531"/>
            <a:ext cx="7266235" cy="124872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832"/>
              </a:lnSpc>
            </a:pPr>
            <a:r>
              <a:rPr b="0" sz="10350" spc="-362">
                <a:solidFill>
                  <a:srgbClr val="EA4C74"/>
                </a:solidFill>
                <a:latin typeface="Gilroy ExtraBold"/>
                <a:ea typeface="Gilroy ExtraBold"/>
                <a:cs typeface="Gilroy ExtraBold"/>
              </a:rPr>
              <a:t>Что делать?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V03-news-green">
    <p:spTree>
      <p:nvGrpSpPr>
        <p:cNvPr id="1" name=""/>
        <p:cNvGrpSpPr/>
        <p:nvPr/>
      </p:nvGrpSpPr>
      <p:grpSpPr/>
      <p:pic>
        <p:nvPicPr>
          <p:cNvPr id="2" name="Фон (картинка, без текста)" descr="V03-news-green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Логотип" descr="logo-ful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4" name="Малиновая черта"/>
          <p:cNvSpPr/>
          <p:nvPr/>
        </p:nvSpPr>
        <p:spPr>
          <a:xfrm>
            <a:off x="914400" y="2702867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Текст 1"/>
          <p:cNvSpPr txBox="1"/>
          <p:nvPr/>
        </p:nvSpPr>
        <p:spPr>
          <a:xfrm>
            <a:off x="914400" y="3024812"/>
            <a:ext cx="2336155" cy="2514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979"/>
              </a:lnSpc>
            </a:pPr>
            <a:r>
              <a:rPr b="0" sz="1650" spc="231" cap="all">
                <a:solidFill>
                  <a:srgbClr val="FFFFFF">
                    <a:alpha val="72000"/>
                  </a:srgbClr>
                </a:solidFill>
                <a:latin typeface="Gilroy Medium"/>
                <a:ea typeface="Gilroy Medium"/>
                <a:cs typeface="Gilroy Medium"/>
              </a:rPr>
              <a:t>Новое в законе</a:t>
            </a:r>
          </a:p>
        </p:txBody>
      </p:sp>
      <p:sp>
        <p:nvSpPr>
          <p:cNvPr id="6" name="Текст 2"/>
          <p:cNvSpPr txBox="1"/>
          <p:nvPr/>
        </p:nvSpPr>
        <p:spPr>
          <a:xfrm>
            <a:off x="857250" y="3563180"/>
            <a:ext cx="7886402" cy="40050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512"/>
              </a:lnSpc>
            </a:pPr>
            <a:r>
              <a:rPr b="1" sz="10950" spc="-383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Закон о</a:t>
            </a:r>
            <a:br/>
            <a:r>
              <a:rPr b="1" sz="10950" spc="-383">
                <a:solidFill>
                  <a:srgbClr val="FFFFFF"/>
                </a:solidFill>
                <a:latin typeface="Gilroy"/>
                <a:ea typeface="Gilroy"/>
                <a:cs typeface="Gilroy"/>
              </a:rPr>
              <a:t>цифровых</a:t>
            </a:r>
            <a:br/>
            <a:r>
              <a:rPr b="1" sz="10950" spc="-383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платформах</a:t>
            </a:r>
          </a:p>
        </p:txBody>
      </p:sp>
      <p:sp>
        <p:nvSpPr>
          <p:cNvPr id="7" name="Текст 3"/>
          <p:cNvSpPr txBox="1"/>
          <p:nvPr/>
        </p:nvSpPr>
        <p:spPr>
          <a:xfrm>
            <a:off x="914400" y="7985134"/>
            <a:ext cx="471933" cy="6172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859"/>
              </a:lnSpc>
            </a:pPr>
            <a:r>
              <a:rPr b="0" sz="4050">
                <a:solidFill>
                  <a:srgbClr val="FFFFFF">
                    <a:alpha val="78000"/>
                  </a:srgbClr>
                </a:solidFill>
                <a:latin typeface="Gilroy Medium"/>
                <a:ea typeface="Gilroy Medium"/>
                <a:cs typeface="Gilroy Medium"/>
              </a:rPr>
              <a:t>с</a:t>
            </a:r>
          </a:p>
        </p:txBody>
      </p:sp>
      <p:sp>
        <p:nvSpPr>
          <p:cNvPr id="8" name="Текст 4"/>
          <p:cNvSpPr txBox="1"/>
          <p:nvPr/>
        </p:nvSpPr>
        <p:spPr>
          <a:xfrm>
            <a:off x="1348233" y="7980372"/>
            <a:ext cx="4959548" cy="6172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859"/>
              </a:lnSpc>
            </a:pPr>
            <a:r>
              <a:rPr b="1" sz="4050">
                <a:solidFill>
                  <a:srgbClr val="FFFFFF"/>
                </a:solidFill>
                <a:latin typeface="Gilroy"/>
                <a:ea typeface="Gilroy"/>
                <a:cs typeface="Gilroy"/>
              </a:rPr>
              <a:t>1 октября 2026 года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V05-list">
    <p:spTree>
      <p:nvGrpSpPr>
        <p:cNvPr id="1" name=""/>
        <p:cNvGrpSpPr/>
        <p:nvPr/>
      </p:nvGrpSpPr>
      <p:grpSpPr/>
      <p:pic>
        <p:nvPicPr>
          <p:cNvPr id="2" name="Фон (картинка, без текста)" descr="V05-lis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Логотип" descr="logo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4" name="Малиновая черта"/>
          <p:cNvSpPr/>
          <p:nvPr/>
        </p:nvSpPr>
        <p:spPr>
          <a:xfrm>
            <a:off x="914400" y="2362200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Текст 1"/>
          <p:cNvSpPr txBox="1"/>
          <p:nvPr/>
        </p:nvSpPr>
        <p:spPr>
          <a:xfrm>
            <a:off x="914400" y="2685288"/>
            <a:ext cx="6794896" cy="2060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112"/>
              </a:lnSpc>
            </a:pPr>
            <a:r>
              <a:rPr b="0" sz="7800" spc="-156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Юридическое</a:t>
            </a:r>
            <a:br/>
            <a:r>
              <a:rPr b="0" sz="7800" spc="-156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обслуживание</a:t>
            </a:r>
          </a:p>
        </p:txBody>
      </p:sp>
      <p:sp>
        <p:nvSpPr>
          <p:cNvPr id="6" name="Текст 2"/>
          <p:cNvSpPr txBox="1"/>
          <p:nvPr/>
        </p:nvSpPr>
        <p:spPr>
          <a:xfrm>
            <a:off x="1447800" y="5212199"/>
            <a:ext cx="5607546" cy="42100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315"/>
              </a:lnSpc>
            </a:pPr>
            <a:r>
              <a:rPr b="0" sz="2550">
                <a:solidFill>
                  <a:srgbClr val="1C1A17"/>
                </a:solidFill>
                <a:latin typeface="Gilroy"/>
                <a:ea typeface="Gilroy"/>
                <a:cs typeface="Gilroy"/>
              </a:rPr>
              <a:t>Регистрация и ликвидация бизнеса</a:t>
            </a:r>
          </a:p>
        </p:txBody>
      </p:sp>
      <p:sp>
        <p:nvSpPr>
          <p:cNvPr id="7" name="Текст 3"/>
          <p:cNvSpPr txBox="1"/>
          <p:nvPr/>
        </p:nvSpPr>
        <p:spPr>
          <a:xfrm>
            <a:off x="1447800" y="5890260"/>
            <a:ext cx="7794277" cy="42100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315"/>
              </a:lnSpc>
            </a:pPr>
            <a:r>
              <a:rPr b="0" sz="2550">
                <a:solidFill>
                  <a:srgbClr val="1C1A17"/>
                </a:solidFill>
                <a:latin typeface="Gilroy"/>
                <a:ea typeface="Gilroy"/>
                <a:cs typeface="Gilroy"/>
              </a:rPr>
              <a:t>Внесение изменений в документы (ЕГРЮЛ/ЕГРИП)</a:t>
            </a:r>
          </a:p>
        </p:txBody>
      </p:sp>
      <p:sp>
        <p:nvSpPr>
          <p:cNvPr id="8" name="Текст 4"/>
          <p:cNvSpPr txBox="1"/>
          <p:nvPr/>
        </p:nvSpPr>
        <p:spPr>
          <a:xfrm>
            <a:off x="1447800" y="6568320"/>
            <a:ext cx="3921918" cy="42100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315"/>
              </a:lnSpc>
            </a:pPr>
            <a:r>
              <a:rPr b="0" sz="2550">
                <a:solidFill>
                  <a:srgbClr val="1C1A17"/>
                </a:solidFill>
                <a:latin typeface="Gilroy"/>
                <a:ea typeface="Gilroy"/>
                <a:cs typeface="Gilroy"/>
              </a:rPr>
              <a:t>Составление договоров</a:t>
            </a:r>
          </a:p>
        </p:txBody>
      </p:sp>
      <p:sp>
        <p:nvSpPr>
          <p:cNvPr id="9" name="Текст 5"/>
          <p:cNvSpPr txBox="1"/>
          <p:nvPr/>
        </p:nvSpPr>
        <p:spPr>
          <a:xfrm>
            <a:off x="1447800" y="7246381"/>
            <a:ext cx="4793456" cy="42100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315"/>
              </a:lnSpc>
            </a:pPr>
            <a:r>
              <a:rPr b="0" sz="2550">
                <a:solidFill>
                  <a:srgbClr val="1C1A17"/>
                </a:solidFill>
                <a:latin typeface="Gilroy"/>
                <a:ea typeface="Gilroy"/>
                <a:cs typeface="Gilroy"/>
              </a:rPr>
              <a:t>Защита в спорах с налоговой</a:t>
            </a:r>
          </a:p>
        </p:txBody>
      </p:sp>
      <p:sp>
        <p:nvSpPr>
          <p:cNvPr id="10" name="Текст 6"/>
          <p:cNvSpPr txBox="1"/>
          <p:nvPr/>
        </p:nvSpPr>
        <p:spPr>
          <a:xfrm>
            <a:off x="1447800" y="7924442"/>
            <a:ext cx="4369147" cy="42100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315"/>
              </a:lnSpc>
            </a:pPr>
            <a:r>
              <a:rPr b="0" sz="2550">
                <a:solidFill>
                  <a:srgbClr val="1C1A17"/>
                </a:solidFill>
                <a:latin typeface="Gilroy"/>
                <a:ea typeface="Gilroy"/>
                <a:cs typeface="Gilroy"/>
              </a:rPr>
              <a:t>Представительство в судах</a:t>
            </a:r>
          </a:p>
        </p:txBody>
      </p:sp>
      <p:sp>
        <p:nvSpPr>
          <p:cNvPr id="11" name="Маркер списка"/>
          <p:cNvSpPr txBox="1"/>
          <p:nvPr/>
        </p:nvSpPr>
        <p:spPr>
          <a:xfrm>
            <a:off x="914400" y="5184576"/>
            <a:ext cx="571500" cy="419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300"/>
              </a:lnSpc>
            </a:pPr>
            <a:r>
              <a:rPr b="1" sz="3300">
                <a:solidFill>
                  <a:srgbClr val="D73A61"/>
                </a:solidFill>
                <a:latin typeface="Gilroy"/>
                <a:ea typeface="Gilroy"/>
                <a:cs typeface="Gilroy"/>
              </a:rPr>
              <a:t>+</a:t>
            </a:r>
          </a:p>
        </p:txBody>
      </p:sp>
      <p:sp>
        <p:nvSpPr>
          <p:cNvPr id="12" name="Маркер списка"/>
          <p:cNvSpPr txBox="1"/>
          <p:nvPr/>
        </p:nvSpPr>
        <p:spPr>
          <a:xfrm>
            <a:off x="914400" y="5862637"/>
            <a:ext cx="571500" cy="419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300"/>
              </a:lnSpc>
            </a:pPr>
            <a:r>
              <a:rPr b="1" sz="3300">
                <a:solidFill>
                  <a:srgbClr val="D73A61"/>
                </a:solidFill>
                <a:latin typeface="Gilroy"/>
                <a:ea typeface="Gilroy"/>
                <a:cs typeface="Gilroy"/>
              </a:rPr>
              <a:t>+</a:t>
            </a:r>
          </a:p>
        </p:txBody>
      </p:sp>
      <p:sp>
        <p:nvSpPr>
          <p:cNvPr id="13" name="Маркер списка"/>
          <p:cNvSpPr txBox="1"/>
          <p:nvPr/>
        </p:nvSpPr>
        <p:spPr>
          <a:xfrm>
            <a:off x="914400" y="6540698"/>
            <a:ext cx="571500" cy="419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300"/>
              </a:lnSpc>
            </a:pPr>
            <a:r>
              <a:rPr b="1" sz="3300">
                <a:solidFill>
                  <a:srgbClr val="D73A61"/>
                </a:solidFill>
                <a:latin typeface="Gilroy"/>
                <a:ea typeface="Gilroy"/>
                <a:cs typeface="Gilroy"/>
              </a:rPr>
              <a:t>+</a:t>
            </a:r>
          </a:p>
        </p:txBody>
      </p:sp>
      <p:sp>
        <p:nvSpPr>
          <p:cNvPr id="14" name="Маркер списка"/>
          <p:cNvSpPr txBox="1"/>
          <p:nvPr/>
        </p:nvSpPr>
        <p:spPr>
          <a:xfrm>
            <a:off x="914400" y="7218759"/>
            <a:ext cx="571500" cy="419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300"/>
              </a:lnSpc>
            </a:pPr>
            <a:r>
              <a:rPr b="1" sz="3300">
                <a:solidFill>
                  <a:srgbClr val="D73A61"/>
                </a:solidFill>
                <a:latin typeface="Gilroy"/>
                <a:ea typeface="Gilroy"/>
                <a:cs typeface="Gilroy"/>
              </a:rPr>
              <a:t>+</a:t>
            </a:r>
          </a:p>
        </p:txBody>
      </p:sp>
      <p:sp>
        <p:nvSpPr>
          <p:cNvPr id="15" name="Маркер списка"/>
          <p:cNvSpPr txBox="1"/>
          <p:nvPr/>
        </p:nvSpPr>
        <p:spPr>
          <a:xfrm>
            <a:off x="914400" y="7896820"/>
            <a:ext cx="571500" cy="419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300"/>
              </a:lnSpc>
            </a:pPr>
            <a:r>
              <a:rPr b="1" sz="3300">
                <a:solidFill>
                  <a:srgbClr val="D73A61"/>
                </a:solidFill>
                <a:latin typeface="Gilroy"/>
                <a:ea typeface="Gilroy"/>
                <a:cs typeface="Gilroy"/>
              </a:rPr>
              <a:t>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V06-team">
    <p:spTree>
      <p:nvGrpSpPr>
        <p:cNvPr id="1" name=""/>
        <p:cNvGrpSpPr/>
        <p:nvPr/>
      </p:nvGrpSpPr>
      <p:grpSpPr/>
      <p:pic>
        <p:nvPicPr>
          <p:cNvPr id="2" name="Фон (картинка, без текста)" descr="V06-team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Логотип" descr="logo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4" name="Малиновая черта"/>
          <p:cNvSpPr/>
          <p:nvPr/>
        </p:nvSpPr>
        <p:spPr>
          <a:xfrm>
            <a:off x="914400" y="2362200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Текст 1"/>
          <p:cNvSpPr txBox="1"/>
          <p:nvPr/>
        </p:nvSpPr>
        <p:spPr>
          <a:xfrm>
            <a:off x="914400" y="2685288"/>
            <a:ext cx="7421909" cy="2060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112"/>
              </a:lnSpc>
            </a:pPr>
            <a:r>
              <a:rPr b="0" sz="7800" spc="-156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Как мы </a:t>
            </a:r>
            <a:r>
              <a:rPr b="0" sz="7800" spc="-156">
                <a:solidFill>
                  <a:srgbClr val="D73A61"/>
                </a:solidFill>
                <a:latin typeface="Gilroy SemiBold"/>
                <a:ea typeface="Gilroy SemiBold"/>
                <a:cs typeface="Gilroy SemiBold"/>
              </a:rPr>
              <a:t>обучаем</a:t>
            </a:r>
            <a:br/>
            <a:r>
              <a:rPr b="0" sz="7800" spc="-156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сотрудников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V08-fragment">
    <p:spTree>
      <p:nvGrpSpPr>
        <p:cNvPr id="1" name=""/>
        <p:cNvGrpSpPr/>
        <p:nvPr/>
      </p:nvGrpSpPr>
      <p:grpSpPr/>
      <p:pic>
        <p:nvPicPr>
          <p:cNvPr id="2" name="Фон (картинка, без текста)" descr="V08-fragm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Логотип" descr="logo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4" name="Малиновая черта"/>
          <p:cNvSpPr/>
          <p:nvPr/>
        </p:nvSpPr>
        <p:spPr>
          <a:xfrm>
            <a:off x="914400" y="2362200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Текст 1"/>
          <p:cNvSpPr txBox="1"/>
          <p:nvPr/>
        </p:nvSpPr>
        <p:spPr>
          <a:xfrm>
            <a:off x="914400" y="2676906"/>
            <a:ext cx="7149554" cy="194157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7644"/>
              </a:lnSpc>
            </a:pPr>
            <a:r>
              <a:rPr b="0" sz="7350" spc="-147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Бухгалтерский</a:t>
            </a:r>
            <a:br/>
            <a:r>
              <a:rPr b="0" sz="7350" spc="-147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аутсорсинг с </a:t>
            </a:r>
            <a:r>
              <a:rPr b="0" sz="7350" spc="-147">
                <a:solidFill>
                  <a:srgbClr val="D73A61"/>
                </a:solidFill>
                <a:latin typeface="Gilroy SemiBold"/>
                <a:ea typeface="Gilroy SemiBold"/>
                <a:cs typeface="Gilroy SemiBold"/>
              </a:rPr>
              <a:t>1+1</a:t>
            </a:r>
          </a:p>
        </p:txBody>
      </p:sp>
      <p:sp>
        <p:nvSpPr>
          <p:cNvPr id="6" name="Текст 2"/>
          <p:cNvSpPr txBox="1"/>
          <p:nvPr/>
        </p:nvSpPr>
        <p:spPr>
          <a:xfrm>
            <a:off x="914400" y="4872632"/>
            <a:ext cx="6381005" cy="10001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937"/>
              </a:lnSpc>
            </a:pPr>
            <a:r>
              <a:rPr b="0" sz="3150" spc="-16">
                <a:solidFill>
                  <a:srgbClr val="6A6965"/>
                </a:solidFill>
                <a:latin typeface="Gilroy Medium"/>
                <a:ea typeface="Gilroy Medium"/>
                <a:cs typeface="Gilroy Medium"/>
              </a:rPr>
              <a:t>Бесплатный экспресс-аудит при</a:t>
            </a:r>
            <a:br/>
            <a:r>
              <a:rPr b="0" sz="3150" spc="-16">
                <a:solidFill>
                  <a:srgbClr val="6A6965"/>
                </a:solidFill>
                <a:latin typeface="Gilroy Medium"/>
                <a:ea typeface="Gilroy Medium"/>
                <a:cs typeface="Gilroy Medium"/>
              </a:rPr>
              <a:t>заключении договора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V09-case">
    <p:spTree>
      <p:nvGrpSpPr>
        <p:cNvPr id="1" name=""/>
        <p:cNvGrpSpPr/>
        <p:nvPr/>
      </p:nvGrpSpPr>
      <p:grpSpPr/>
      <p:pic>
        <p:nvPicPr>
          <p:cNvPr id="2" name="Фон (картинка, без текста)" descr="V09-cas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Логотип" descr="logo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pic>
        <p:nvPicPr>
          <p:cNvPr id="4" name="Фото / вырезка" descr="ivlikova-olg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434" y="4953000"/>
            <a:ext cx="4335065" cy="5334000"/>
          </a:xfrm>
          <a:prstGeom prst="rect">
            <a:avLst/>
          </a:prstGeom>
        </p:spPr>
      </p:pic>
      <p:sp>
        <p:nvSpPr>
          <p:cNvPr id="5" name="Малиновая черта"/>
          <p:cNvSpPr/>
          <p:nvPr/>
        </p:nvSpPr>
        <p:spPr>
          <a:xfrm>
            <a:off x="914400" y="2362200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Текст 1"/>
          <p:cNvSpPr txBox="1"/>
          <p:nvPr/>
        </p:nvSpPr>
        <p:spPr>
          <a:xfrm>
            <a:off x="914400" y="2684145"/>
            <a:ext cx="1273075" cy="2514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979"/>
              </a:lnSpc>
            </a:pPr>
            <a:r>
              <a:rPr b="0" sz="1650" spc="231" cap="all">
                <a:solidFill>
                  <a:srgbClr val="6A6965"/>
                </a:solidFill>
                <a:latin typeface="Gilroy Medium"/>
                <a:ea typeface="Gilroy Medium"/>
                <a:cs typeface="Gilroy Medium"/>
              </a:rPr>
              <a:t>Кейс 1+1</a:t>
            </a:r>
          </a:p>
        </p:txBody>
      </p:sp>
      <p:sp>
        <p:nvSpPr>
          <p:cNvPr id="7" name="Текст 2"/>
          <p:cNvSpPr txBox="1"/>
          <p:nvPr/>
        </p:nvSpPr>
        <p:spPr>
          <a:xfrm>
            <a:off x="914400" y="3204210"/>
            <a:ext cx="6108948" cy="2560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040"/>
              </a:lnSpc>
            </a:pPr>
            <a:r>
              <a:rPr b="0" sz="4500" spc="-9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Вернули религиозной</a:t>
            </a:r>
            <a:br/>
            <a:r>
              <a:rPr b="0" sz="4500" spc="-9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организации более</a:t>
            </a:r>
            <a:br/>
            <a:r>
              <a:rPr b="0" sz="4500" spc="-90">
                <a:solidFill>
                  <a:srgbClr val="D73A61"/>
                </a:solidFill>
                <a:latin typeface="Gilroy SemiBold"/>
                <a:ea typeface="Gilroy SemiBold"/>
                <a:cs typeface="Gilroy SemiBold"/>
              </a:rPr>
              <a:t>850 000 ₽</a:t>
            </a:r>
            <a:r>
              <a:rPr b="0" sz="4500" spc="-9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 переплаты</a:t>
            </a:r>
            <a:br/>
            <a:r>
              <a:rPr b="0" sz="4500" spc="-9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по страховым взносам</a:t>
            </a:r>
          </a:p>
        </p:txBody>
      </p:sp>
      <p:sp>
        <p:nvSpPr>
          <p:cNvPr id="8" name="Текст 3"/>
          <p:cNvSpPr txBox="1"/>
          <p:nvPr/>
        </p:nvSpPr>
        <p:spPr>
          <a:xfrm>
            <a:off x="914400" y="8397240"/>
            <a:ext cx="3309491" cy="5029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959"/>
              </a:lnSpc>
            </a:pPr>
            <a:r>
              <a:rPr b="0" sz="3300" spc="-33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Ольга Ивликова</a:t>
            </a:r>
          </a:p>
        </p:txBody>
      </p:sp>
      <p:sp>
        <p:nvSpPr>
          <p:cNvPr id="9" name="Текст 4"/>
          <p:cNvSpPr txBox="1"/>
          <p:nvPr/>
        </p:nvSpPr>
        <p:spPr>
          <a:xfrm>
            <a:off x="914400" y="8996362"/>
            <a:ext cx="4930824" cy="3714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925"/>
              </a:lnSpc>
            </a:pPr>
            <a:r>
              <a:rPr b="0" sz="2250">
                <a:solidFill>
                  <a:srgbClr val="6A6965"/>
                </a:solidFill>
                <a:latin typeface="Gilroy"/>
                <a:ea typeface="Gilroy"/>
                <a:cs typeface="Gilroy"/>
              </a:rPr>
              <a:t>Бухгалтер по заработной плате 1+1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V11-photo-frame">
    <p:spTree>
      <p:nvGrpSpPr>
        <p:cNvPr id="1" name=""/>
        <p:cNvGrpSpPr/>
        <p:nvPr/>
      </p:nvGrpSpPr>
      <p:grpSpPr/>
      <p:pic>
        <p:nvPicPr>
          <p:cNvPr id="2" name="Фон (картинка, без текста)" descr="V11-photo-fram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Логотип" descr="logo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4" name="Малиновая черта"/>
          <p:cNvSpPr/>
          <p:nvPr/>
        </p:nvSpPr>
        <p:spPr>
          <a:xfrm>
            <a:off x="914400" y="2362200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Текст 1"/>
          <p:cNvSpPr txBox="1"/>
          <p:nvPr/>
        </p:nvSpPr>
        <p:spPr>
          <a:xfrm>
            <a:off x="914400" y="2686050"/>
            <a:ext cx="7955012" cy="18859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950"/>
              </a:lnSpc>
            </a:pPr>
            <a:r>
              <a:rPr b="0" sz="4500" spc="-9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Как замотивировать себя и</a:t>
            </a:r>
            <a:br/>
            <a:r>
              <a:rPr b="0" sz="4500" spc="-9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сотрудников на эффективную</a:t>
            </a:r>
            <a:br/>
            <a:r>
              <a:rPr b="0" sz="4500" spc="-9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работу </a:t>
            </a:r>
            <a:r>
              <a:rPr b="0" sz="4500" spc="-90">
                <a:solidFill>
                  <a:srgbClr val="D73A61"/>
                </a:solidFill>
                <a:latin typeface="Gilroy SemiBold"/>
                <a:ea typeface="Gilroy SemiBold"/>
                <a:cs typeface="Gilroy SemiBold"/>
              </a:rPr>
              <a:t>после лета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V12-word-graphite">
    <p:spTree>
      <p:nvGrpSpPr>
        <p:cNvPr id="1" name=""/>
        <p:cNvGrpSpPr/>
        <p:nvPr/>
      </p:nvGrpSpPr>
      <p:grpSpPr/>
      <p:pic>
        <p:nvPicPr>
          <p:cNvPr id="2" name="Фон (картинка, без текста)" descr="V12-word-grap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Логотип" descr="logo-ful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4" name="Малиновая черта"/>
          <p:cNvSpPr/>
          <p:nvPr/>
        </p:nvSpPr>
        <p:spPr>
          <a:xfrm>
            <a:off x="914400" y="3434729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Текст 1"/>
          <p:cNvSpPr txBox="1"/>
          <p:nvPr/>
        </p:nvSpPr>
        <p:spPr>
          <a:xfrm>
            <a:off x="914400" y="3750007"/>
            <a:ext cx="3737669" cy="76009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984"/>
              </a:lnSpc>
            </a:pPr>
            <a:r>
              <a:rPr b="0" sz="5700" spc="-114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Итоги ВЭФ</a:t>
            </a:r>
          </a:p>
        </p:txBody>
      </p:sp>
      <p:sp>
        <p:nvSpPr>
          <p:cNvPr id="6" name="Текст 2"/>
          <p:cNvSpPr txBox="1"/>
          <p:nvPr/>
        </p:nvSpPr>
        <p:spPr>
          <a:xfrm>
            <a:off x="914400" y="4671807"/>
            <a:ext cx="6065639" cy="24574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9350"/>
              </a:lnSpc>
            </a:pPr>
            <a:r>
              <a:rPr b="0" sz="22500" spc="-900">
                <a:solidFill>
                  <a:srgbClr val="EA4C74"/>
                </a:solidFill>
                <a:latin typeface="Gilroy ExtraBold"/>
                <a:ea typeface="Gilroy ExtraBold"/>
                <a:cs typeface="Gilroy ExtraBold"/>
              </a:rPr>
              <a:t>2026</a:t>
            </a:r>
          </a:p>
        </p:txBody>
      </p:sp>
      <p:sp>
        <p:nvSpPr>
          <p:cNvPr id="7" name="Текст 3"/>
          <p:cNvSpPr txBox="1"/>
          <p:nvPr/>
        </p:nvSpPr>
        <p:spPr>
          <a:xfrm>
            <a:off x="914400" y="7352332"/>
            <a:ext cx="4269283" cy="523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25"/>
              </a:lnSpc>
            </a:pPr>
            <a:r>
              <a:rPr b="0" sz="3300" spc="-16">
                <a:solidFill>
                  <a:srgbClr val="FFFFFF">
                    <a:alpha val="66000"/>
                  </a:srgbClr>
                </a:solidFill>
                <a:latin typeface="Gilroy Medium"/>
                <a:ea typeface="Gilroy Medium"/>
                <a:cs typeface="Gilroy Medium"/>
              </a:rPr>
              <a:t>Главное для бизнеса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U1-urgent-air-pink">
    <p:spTree>
      <p:nvGrpSpPr>
        <p:cNvPr id="1" name=""/>
        <p:cNvGrpSpPr/>
        <p:nvPr/>
      </p:nvGrpSpPr>
      <p:grpSpPr/>
      <p:pic>
        <p:nvPicPr>
          <p:cNvPr id="2" name="Фон (картинка, без текста)" descr="U1-urgent-air-pin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Логотип" descr="logo-ful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4" name="Текст 1"/>
          <p:cNvSpPr txBox="1"/>
          <p:nvPr/>
        </p:nvSpPr>
        <p:spPr>
          <a:xfrm>
            <a:off x="1314450" y="2633811"/>
            <a:ext cx="3926681" cy="342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700"/>
              </a:lnSpc>
            </a:pPr>
            <a:r>
              <a:rPr b="1" sz="2250" spc="495" cap="all">
                <a:solidFill>
                  <a:srgbClr val="EA4C74"/>
                </a:solidFill>
                <a:latin typeface="Gilroy"/>
                <a:ea typeface="Gilroy"/>
                <a:cs typeface="Gilroy"/>
              </a:rPr>
              <a:t>Срочные новости</a:t>
            </a:r>
          </a:p>
        </p:txBody>
      </p:sp>
      <p:sp>
        <p:nvSpPr>
          <p:cNvPr id="5" name="Текст 2"/>
          <p:cNvSpPr txBox="1"/>
          <p:nvPr/>
        </p:nvSpPr>
        <p:spPr>
          <a:xfrm>
            <a:off x="914400" y="3717962"/>
            <a:ext cx="7886402" cy="40050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512"/>
              </a:lnSpc>
            </a:pPr>
            <a:r>
              <a:rPr b="1" sz="10950" spc="-383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Закон о</a:t>
            </a:r>
            <a:br/>
            <a:r>
              <a:rPr b="1" sz="10950" spc="-383">
                <a:solidFill>
                  <a:srgbClr val="FFFFFF"/>
                </a:solidFill>
                <a:latin typeface="Gilroy"/>
                <a:ea typeface="Gilroy"/>
                <a:cs typeface="Gilroy"/>
              </a:rPr>
              <a:t>цифровых</a:t>
            </a:r>
            <a:br/>
            <a:r>
              <a:rPr b="1" sz="10950" spc="-383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платформах</a:t>
            </a:r>
          </a:p>
        </p:txBody>
      </p:sp>
      <p:sp>
        <p:nvSpPr>
          <p:cNvPr id="6" name="Текст 3"/>
          <p:cNvSpPr txBox="1"/>
          <p:nvPr/>
        </p:nvSpPr>
        <p:spPr>
          <a:xfrm>
            <a:off x="914400" y="8131343"/>
            <a:ext cx="4749254" cy="548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320"/>
              </a:lnSpc>
            </a:pPr>
            <a:r>
              <a:rPr b="0" sz="3600">
                <a:solidFill>
                  <a:srgbClr val="FFFFFF">
                    <a:alpha val="70000"/>
                  </a:srgbClr>
                </a:solidFill>
                <a:latin typeface="Gilroy Medium"/>
                <a:ea typeface="Gilroy Medium"/>
                <a:cs typeface="Gilroy Medium"/>
              </a:rPr>
              <a:t>с 1 октября 2026 года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U2-urgent-air-green">
    <p:spTree>
      <p:nvGrpSpPr>
        <p:cNvPr id="1" name=""/>
        <p:cNvGrpSpPr/>
        <p:nvPr/>
      </p:nvGrpSpPr>
      <p:grpSpPr/>
      <p:pic>
        <p:nvPicPr>
          <p:cNvPr id="2" name="Фон (картинка, без текста)" descr="U2-urgent-air-green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Логотип" descr="logo-ful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4" name="Текст 1"/>
          <p:cNvSpPr txBox="1"/>
          <p:nvPr/>
        </p:nvSpPr>
        <p:spPr>
          <a:xfrm>
            <a:off x="1314450" y="2633811"/>
            <a:ext cx="3926681" cy="342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700"/>
              </a:lnSpc>
            </a:pPr>
            <a:r>
              <a:rPr b="1" sz="2250" spc="495" cap="all">
                <a:solidFill>
                  <a:srgbClr val="ABAD58"/>
                </a:solidFill>
                <a:latin typeface="Gilroy"/>
                <a:ea typeface="Gilroy"/>
                <a:cs typeface="Gilroy"/>
              </a:rPr>
              <a:t>Срочные новости</a:t>
            </a:r>
          </a:p>
        </p:txBody>
      </p:sp>
      <p:sp>
        <p:nvSpPr>
          <p:cNvPr id="5" name="Текст 2"/>
          <p:cNvSpPr txBox="1"/>
          <p:nvPr/>
        </p:nvSpPr>
        <p:spPr>
          <a:xfrm>
            <a:off x="914400" y="3717962"/>
            <a:ext cx="7886402" cy="40050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512"/>
              </a:lnSpc>
            </a:pPr>
            <a:r>
              <a:rPr b="1" sz="10950" spc="-383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Закон о</a:t>
            </a:r>
            <a:br/>
            <a:r>
              <a:rPr b="1" sz="10950" spc="-383">
                <a:solidFill>
                  <a:srgbClr val="FFFFFF"/>
                </a:solidFill>
                <a:latin typeface="Gilroy"/>
                <a:ea typeface="Gilroy"/>
                <a:cs typeface="Gilroy"/>
              </a:rPr>
              <a:t>цифровых</a:t>
            </a:r>
            <a:br/>
            <a:r>
              <a:rPr b="1" sz="10950" spc="-383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платформах</a:t>
            </a:r>
          </a:p>
        </p:txBody>
      </p:sp>
      <p:sp>
        <p:nvSpPr>
          <p:cNvPr id="6" name="Текст 3"/>
          <p:cNvSpPr txBox="1"/>
          <p:nvPr/>
        </p:nvSpPr>
        <p:spPr>
          <a:xfrm>
            <a:off x="914400" y="8131343"/>
            <a:ext cx="4749254" cy="548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320"/>
              </a:lnSpc>
            </a:pPr>
            <a:r>
              <a:rPr b="0" sz="3600">
                <a:solidFill>
                  <a:srgbClr val="FFFFFF">
                    <a:alpha val="70000"/>
                  </a:srgbClr>
                </a:solidFill>
                <a:latin typeface="Gilroy Medium"/>
                <a:ea typeface="Gilroy Medium"/>
                <a:cs typeface="Gilroy Medium"/>
              </a:rPr>
              <a:t>с 1 октября 2026 года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U3-urgent-date-graphite-chip">
    <p:spTree>
      <p:nvGrpSpPr>
        <p:cNvPr id="1" name=""/>
        <p:cNvGrpSpPr/>
        <p:nvPr/>
      </p:nvGrpSpPr>
      <p:grpSpPr/>
      <p:pic>
        <p:nvPicPr>
          <p:cNvPr id="2" name="Фон (картинка, без текста)" descr="U3-urgent-date-graphite-chip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Логотип" descr="logo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4" name="Текст 1"/>
          <p:cNvSpPr txBox="1"/>
          <p:nvPr/>
        </p:nvSpPr>
        <p:spPr>
          <a:xfrm>
            <a:off x="1543050" y="3022386"/>
            <a:ext cx="4133403" cy="3886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060"/>
              </a:lnSpc>
            </a:pPr>
            <a:r>
              <a:rPr b="1" sz="2550" spc="408" cap="all">
                <a:solidFill>
                  <a:srgbClr val="FFFFFF"/>
                </a:solidFill>
                <a:latin typeface="Gilroy"/>
                <a:ea typeface="Gilroy"/>
                <a:cs typeface="Gilroy"/>
              </a:rPr>
              <a:t>Срочные новости</a:t>
            </a:r>
          </a:p>
        </p:txBody>
      </p:sp>
      <p:sp>
        <p:nvSpPr>
          <p:cNvPr id="5" name="Текст 2"/>
          <p:cNvSpPr txBox="1"/>
          <p:nvPr/>
        </p:nvSpPr>
        <p:spPr>
          <a:xfrm>
            <a:off x="914400" y="3993022"/>
            <a:ext cx="7719714" cy="168021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230"/>
              </a:lnSpc>
            </a:pPr>
            <a:r>
              <a:rPr b="0" sz="14700" spc="-662">
                <a:solidFill>
                  <a:srgbClr val="D73A61"/>
                </a:solidFill>
                <a:latin typeface="Gilroy ExtraBold"/>
                <a:ea typeface="Gilroy ExtraBold"/>
                <a:cs typeface="Gilroy ExtraBold"/>
              </a:rPr>
              <a:t>1 октября</a:t>
            </a:r>
          </a:p>
        </p:txBody>
      </p:sp>
      <p:sp>
        <p:nvSpPr>
          <p:cNvPr id="6" name="Текст 3"/>
          <p:cNvSpPr txBox="1"/>
          <p:nvPr/>
        </p:nvSpPr>
        <p:spPr>
          <a:xfrm>
            <a:off x="914400" y="5790262"/>
            <a:ext cx="3237607" cy="82295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480"/>
              </a:lnSpc>
            </a:pPr>
            <a:r>
              <a:rPr b="1" sz="5400" spc="-108">
                <a:solidFill>
                  <a:srgbClr val="1C1A17"/>
                </a:solidFill>
                <a:latin typeface="Gilroy"/>
                <a:ea typeface="Gilroy"/>
                <a:cs typeface="Gilroy"/>
              </a:rPr>
              <a:t>2026 года</a:t>
            </a:r>
          </a:p>
        </p:txBody>
      </p:sp>
      <p:sp>
        <p:nvSpPr>
          <p:cNvPr id="7" name="Текст 4"/>
          <p:cNvSpPr txBox="1"/>
          <p:nvPr/>
        </p:nvSpPr>
        <p:spPr>
          <a:xfrm>
            <a:off x="914400" y="7046609"/>
            <a:ext cx="5479405" cy="13830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445"/>
              </a:lnSpc>
            </a:pPr>
            <a:r>
              <a:rPr b="0" sz="4950" spc="-99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Закон о цифровых</a:t>
            </a:r>
            <a:br/>
            <a:r>
              <a:rPr b="0" sz="4950" spc="-99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платформах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U4-urgent-date-crimson-chip">
    <p:spTree>
      <p:nvGrpSpPr>
        <p:cNvPr id="1" name=""/>
        <p:cNvGrpSpPr/>
        <p:nvPr/>
      </p:nvGrpSpPr>
      <p:grpSpPr/>
      <p:pic>
        <p:nvPicPr>
          <p:cNvPr id="2" name="Фон (картинка, без текста)" descr="U4-urgent-date-crimson-chip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Логотип" descr="logo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4" name="Текст 1"/>
          <p:cNvSpPr txBox="1"/>
          <p:nvPr/>
        </p:nvSpPr>
        <p:spPr>
          <a:xfrm>
            <a:off x="1543050" y="3022386"/>
            <a:ext cx="4133403" cy="3886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060"/>
              </a:lnSpc>
            </a:pPr>
            <a:r>
              <a:rPr b="1" sz="2550" spc="408" cap="all">
                <a:solidFill>
                  <a:srgbClr val="FFFFFF"/>
                </a:solidFill>
                <a:latin typeface="Gilroy"/>
                <a:ea typeface="Gilroy"/>
                <a:cs typeface="Gilroy"/>
              </a:rPr>
              <a:t>Срочные новости</a:t>
            </a:r>
          </a:p>
        </p:txBody>
      </p:sp>
      <p:sp>
        <p:nvSpPr>
          <p:cNvPr id="5" name="Текст 2"/>
          <p:cNvSpPr txBox="1"/>
          <p:nvPr/>
        </p:nvSpPr>
        <p:spPr>
          <a:xfrm>
            <a:off x="914400" y="3993022"/>
            <a:ext cx="7719714" cy="168021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230"/>
              </a:lnSpc>
            </a:pPr>
            <a:r>
              <a:rPr b="0" sz="14700" spc="-662">
                <a:solidFill>
                  <a:srgbClr val="D73A61"/>
                </a:solidFill>
                <a:latin typeface="Gilroy ExtraBold"/>
                <a:ea typeface="Gilroy ExtraBold"/>
                <a:cs typeface="Gilroy ExtraBold"/>
              </a:rPr>
              <a:t>1 октября</a:t>
            </a:r>
          </a:p>
        </p:txBody>
      </p:sp>
      <p:sp>
        <p:nvSpPr>
          <p:cNvPr id="6" name="Текст 3"/>
          <p:cNvSpPr txBox="1"/>
          <p:nvPr/>
        </p:nvSpPr>
        <p:spPr>
          <a:xfrm>
            <a:off x="914400" y="5790262"/>
            <a:ext cx="3237607" cy="82295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480"/>
              </a:lnSpc>
            </a:pPr>
            <a:r>
              <a:rPr b="1" sz="5400" spc="-108">
                <a:solidFill>
                  <a:srgbClr val="1C1A17"/>
                </a:solidFill>
                <a:latin typeface="Gilroy"/>
                <a:ea typeface="Gilroy"/>
                <a:cs typeface="Gilroy"/>
              </a:rPr>
              <a:t>2026 года</a:t>
            </a:r>
          </a:p>
        </p:txBody>
      </p:sp>
      <p:sp>
        <p:nvSpPr>
          <p:cNvPr id="7" name="Текст 4"/>
          <p:cNvSpPr txBox="1"/>
          <p:nvPr/>
        </p:nvSpPr>
        <p:spPr>
          <a:xfrm>
            <a:off x="914400" y="7046609"/>
            <a:ext cx="5479405" cy="13830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445"/>
              </a:lnSpc>
            </a:pPr>
            <a:r>
              <a:rPr b="0" sz="4950" spc="-99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Закон о цифровых</a:t>
            </a:r>
            <a:br/>
            <a:r>
              <a:rPr b="0" sz="4950" spc="-99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платформах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U5-urgent-newspaper">
    <p:spTree>
      <p:nvGrpSpPr>
        <p:cNvPr id="1" name=""/>
        <p:cNvGrpSpPr/>
        <p:nvPr/>
      </p:nvGrpSpPr>
      <p:grpSpPr/>
      <p:pic>
        <p:nvPicPr>
          <p:cNvPr id="2" name="Фон (картинка, без текста)" descr="U5-urgent-newspaper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Логотип" descr="logo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4" name="Текст 1"/>
          <p:cNvSpPr txBox="1"/>
          <p:nvPr/>
        </p:nvSpPr>
        <p:spPr>
          <a:xfrm>
            <a:off x="1276350" y="2819400"/>
            <a:ext cx="3926681" cy="342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700"/>
              </a:lnSpc>
            </a:pPr>
            <a:r>
              <a:rPr b="1" sz="2250" spc="495" cap="all">
                <a:solidFill>
                  <a:srgbClr val="1C1A17"/>
                </a:solidFill>
                <a:latin typeface="Gilroy"/>
                <a:ea typeface="Gilroy"/>
                <a:cs typeface="Gilroy"/>
              </a:rPr>
              <a:t>Срочные новости</a:t>
            </a:r>
          </a:p>
        </p:txBody>
      </p:sp>
      <p:sp>
        <p:nvSpPr>
          <p:cNvPr id="5" name="Текст 2"/>
          <p:cNvSpPr txBox="1"/>
          <p:nvPr/>
        </p:nvSpPr>
        <p:spPr>
          <a:xfrm>
            <a:off x="914400" y="4000058"/>
            <a:ext cx="7161014" cy="369646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02"/>
              </a:lnSpc>
            </a:pPr>
            <a:r>
              <a:rPr b="0" sz="9900" spc="-346">
                <a:solidFill>
                  <a:srgbClr val="1C1A17"/>
                </a:solidFill>
                <a:latin typeface="Gilroy ExtraBold"/>
                <a:ea typeface="Gilroy ExtraBold"/>
                <a:cs typeface="Gilroy ExtraBold"/>
              </a:rPr>
              <a:t>Закон о</a:t>
            </a:r>
            <a:br/>
            <a:r>
              <a:rPr b="0" sz="9900" spc="-346">
                <a:solidFill>
                  <a:srgbClr val="1C1A17"/>
                </a:solidFill>
                <a:latin typeface="Gilroy ExtraBold"/>
                <a:ea typeface="Gilroy ExtraBold"/>
                <a:cs typeface="Gilroy ExtraBold"/>
              </a:rPr>
              <a:t>цифровых</a:t>
            </a:r>
            <a:br/>
            <a:r>
              <a:rPr b="0" sz="9900" spc="-346">
                <a:solidFill>
                  <a:srgbClr val="1C1A17"/>
                </a:solidFill>
                <a:latin typeface="Gilroy ExtraBold"/>
                <a:ea typeface="Gilroy ExtraBold"/>
                <a:cs typeface="Gilroy ExtraBold"/>
              </a:rPr>
              <a:t>платформах</a:t>
            </a:r>
          </a:p>
        </p:txBody>
      </p:sp>
      <p:sp>
        <p:nvSpPr>
          <p:cNvPr id="6" name="Текст 3"/>
          <p:cNvSpPr txBox="1"/>
          <p:nvPr/>
        </p:nvSpPr>
        <p:spPr>
          <a:xfrm>
            <a:off x="914400" y="8843962"/>
            <a:ext cx="4325391" cy="523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25"/>
              </a:lnSpc>
            </a:pPr>
            <a:r>
              <a:rPr b="0" sz="3300" spc="-16">
                <a:solidFill>
                  <a:srgbClr val="6A6965"/>
                </a:solidFill>
                <a:latin typeface="Gilroy Medium"/>
                <a:ea typeface="Gilroy Medium"/>
                <a:cs typeface="Gilroy Medium"/>
              </a:rPr>
              <a:t>с 1 октября 2026 года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U6-urgent-ticker-quiet">
    <p:spTree>
      <p:nvGrpSpPr>
        <p:cNvPr id="1" name=""/>
        <p:cNvGrpSpPr/>
        <p:nvPr/>
      </p:nvGrpSpPr>
      <p:grpSpPr/>
      <p:pic>
        <p:nvPicPr>
          <p:cNvPr id="2" name="Фон (картинка, без текста)" descr="U6-urgent-ticker-quie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Логотип" descr="logo-ful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5363"/>
            <a:ext cx="1905000" cy="1162942"/>
          </a:xfrm>
          <a:prstGeom prst="rect">
            <a:avLst/>
          </a:prstGeom>
        </p:spPr>
      </p:pic>
      <p:sp>
        <p:nvSpPr>
          <p:cNvPr id="4" name="Текст 1"/>
          <p:cNvSpPr txBox="1"/>
          <p:nvPr/>
        </p:nvSpPr>
        <p:spPr>
          <a:xfrm>
            <a:off x="914400" y="3833032"/>
            <a:ext cx="6360318" cy="338099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874"/>
              </a:lnSpc>
            </a:pPr>
            <a:r>
              <a:rPr b="1" sz="8700" spc="-261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Закон о</a:t>
            </a:r>
            <a:br/>
            <a:r>
              <a:rPr b="1" sz="8700" spc="-261">
                <a:solidFill>
                  <a:srgbClr val="FFFFFF"/>
                </a:solidFill>
                <a:latin typeface="Gilroy"/>
                <a:ea typeface="Gilroy"/>
                <a:cs typeface="Gilroy"/>
              </a:rPr>
              <a:t>цифровых</a:t>
            </a:r>
            <a:br/>
            <a:r>
              <a:rPr b="1" sz="8700" spc="-261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платформах</a:t>
            </a:r>
          </a:p>
        </p:txBody>
      </p:sp>
      <p:sp>
        <p:nvSpPr>
          <p:cNvPr id="5" name="Текст 2"/>
          <p:cNvSpPr txBox="1"/>
          <p:nvPr/>
        </p:nvSpPr>
        <p:spPr>
          <a:xfrm>
            <a:off x="914400" y="7541091"/>
            <a:ext cx="4749254" cy="548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320"/>
              </a:lnSpc>
            </a:pPr>
            <a:r>
              <a:rPr b="0" sz="3600">
                <a:solidFill>
                  <a:srgbClr val="FFFFFF">
                    <a:alpha val="70000"/>
                  </a:srgbClr>
                </a:solidFill>
                <a:latin typeface="Gilroy Medium"/>
                <a:ea typeface="Gilroy Medium"/>
                <a:cs typeface="Gilroy Medium"/>
              </a:rPr>
              <a:t>с 1 октября 2026 года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